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patient experience: a warm call in the patient's own language the morning after discharge. The three tiles carry the commercial hooks: unit cost, languages, and structured escalation. Demo link works on any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left card first (cheaper than the tele-calling team), then the two hard return rows. The ROI banner divides ₹4.6L hard returns by ₹1.49L cost. Every number is deliberately conservative and the sources are on-slide; invite the CFO to stress-test the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de-risking: guardrails are code, not policy; the pilot needs no IT project; and the success gates are ones the hospital measures, not us. End by dialling the demo live in the room — it takes 30 seconds and speaks their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SAHARA  ·  HOSPITAL PARTNERSHIPS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discharged patient,
</a:t>
            </a:r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called every morning.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care companion telephones your patients after discharge — in their own language — asks about symptoms, medicines and recovery, and escalates to your duty desk the moment something is wrong.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91440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0F4B5A"/>
          </a:solidFill>
          <a:ln w="12700">
            <a:solidFill>
              <a:srgbClr val="1E607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95360" y="12161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morning, 7:30 am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6002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"नमस्ते, मैं आपके अस्पताल की AI सहायक हूँ। ऑपरेशन के बाद दर्द कैसा है? दवा ली?"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001000" y="269748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0B3C49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278892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TO DUTY DESK  </a:t>
            </a:r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"Wound site pain is worse since yesterday; patient has not restarted Clopidogrel."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46177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4B5A"/>
          </a:solidFill>
          <a:ln w="9525">
            <a:solidFill>
              <a:srgbClr val="1E607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7375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71600" y="47731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completed AI call — a tele-caller costs ~₹35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15968" y="46177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4B5A"/>
          </a:solidFill>
          <a:ln w="9525">
            <a:solidFill>
              <a:srgbClr val="1E607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487375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47731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4590288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languages, correct dialect register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083296" y="4617720"/>
            <a:ext cx="3520440" cy="1554480"/>
          </a:xfrm>
          <a:prstGeom prst="roundRect">
            <a:avLst>
              <a:gd name="adj" fmla="val 5882"/>
            </a:avLst>
          </a:prstGeom>
          <a:solidFill>
            <a:srgbClr val="0F4B5A"/>
          </a:solidFill>
          <a:ln w="9525">
            <a:solidFill>
              <a:srgbClr val="1E607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487375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06256" y="47731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levels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8357616" y="5440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· notify · urgent · emergency — hard-floored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sahara-demo.fly.dev/try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economics, for 1,000 discharges a month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follow-up programme · 8 AI calls per patient · conservative assumptions, sourced below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EAF4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YOU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₹149</a:t>
            </a:r>
            <a:pPr indent="0" marL="0">
              <a:buNone/>
            </a:pPr>
            <a:r>
              <a:rPr lang="en-US" sz="1400" dirty="0">
                <a:solidFill>
                  <a:srgbClr val="5B7480"/>
                </a:solidFill>
              </a:rPr>
              <a:t>  / patient · month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₹1.49L per month for 1,000 patients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200400"/>
            <a:ext cx="3474720" cy="0"/>
          </a:xfrm>
          <a:prstGeom prst="line">
            <a:avLst/>
          </a:prstGeom>
          <a:noFill/>
          <a:ln w="12700">
            <a:solidFill>
              <a:srgbClr val="CADFDE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40156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3364992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it replaces: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 calls/month needs ~5.6 tele-nurses ≈ ₹1.96L — and they don’t work at 7 am, in 10 languages, or log structured escalations.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74920" y="16276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RETURNS, EVERY MONTH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74920" y="2011680"/>
            <a:ext cx="6583680" cy="932688"/>
          </a:xfrm>
          <a:prstGeom prst="roundRect">
            <a:avLst>
              <a:gd name="adj" fmla="val 7843"/>
            </a:avLst>
          </a:prstGeom>
          <a:solidFill>
            <a:srgbClr val="EAF4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6771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06440" y="2130552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₹2.3L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6903720" y="2084832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readmissions you absorb, avoided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fewer 30-day readmits among insured/package patients (300 enrolled × 14% baseline × 25% reduction) × ₹21,700 absorbed cost each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074920" y="3090672"/>
            <a:ext cx="6583680" cy="932688"/>
          </a:xfrm>
          <a:prstGeom prst="roundRect">
            <a:avLst>
              <a:gd name="adj" fmla="val 7843"/>
            </a:avLst>
          </a:prstGeom>
          <a:solidFill>
            <a:srgbClr val="EAF4F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334670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06440" y="3209544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₹2.3L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903720" y="3163824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Bed-days freed for elective admissions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 bed-days/month back from avoided non-package readmits, at ~₹3,000 contribution per elective bed-day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074920" y="4169664"/>
            <a:ext cx="6583680" cy="932688"/>
          </a:xfrm>
          <a:prstGeom prst="roundRect">
            <a:avLst>
              <a:gd name="adj" fmla="val 7843"/>
            </a:avLst>
          </a:prstGeom>
          <a:solidFill>
            <a:srgbClr val="FDF6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4425696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06440" y="4288536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+LTV</a:t>
            </a:r>
            <a:endParaRPr lang="en-US" sz="2100" dirty="0"/>
          </a:p>
        </p:txBody>
      </p:sp>
      <p:sp>
        <p:nvSpPr>
          <p:cNvPr id="23" name="Text 17"/>
          <p:cNvSpPr txBox="1"/>
          <p:nvPr/>
        </p:nvSpPr>
        <p:spPr>
          <a:xfrm>
            <a:off x="6903720" y="4242816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referrals — the compounding part
</a:t>
            </a:r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call in their language is the strongest post-discharge loyalty signal; Indian patient LTV benchmarks run ₹90k+ over a relationship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5440680"/>
            <a:ext cx="11109960" cy="868680"/>
          </a:xfrm>
          <a:prstGeom prst="roundRect">
            <a:avLst>
              <a:gd name="adj" fmla="val 10526"/>
            </a:avLst>
          </a:prstGeom>
          <a:solidFill>
            <a:srgbClr val="0B3C49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14400" y="55138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3× monthly ROI </a:t>
            </a:r>
            <a:pPr indent="0" marL="0">
              <a:buNone/>
            </a:pPr>
            <a:r>
              <a:rPr lang="en-US" sz="1400" dirty="0">
                <a:solidFill>
                  <a:srgbClr val="C9D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hard savings alone — before retention, reputation and NABH patient-experience scores.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382512"/>
            <a:ext cx="11109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9A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sources: 30-day readmission baseline 14% (US HF 20–25%, China all-cause 12.6%, PMC11366993); structured post-discharge calls cut readmissions ~30% relative (11.9%→8.3%, StatPearls NBK606114) — 25% used; 30% of enrolled on package/insured terms; absorbed readmission ≈ 3.2 days × ₹6,788/day private-hospital cost (PMC9078002); LTV example ₹96k (Indian OPD benchmark). Sahara call cost measured in production, Sept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design. Live today. Pilot in 30 days.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GUARDRAILS — HARD-CODED, NOT PROMISED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" cy="566928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591056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716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diagnoses, never prescribes, never reassures away a symptom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may only recall the treating doctor’s own recorded instructions — once, gently.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578608"/>
            <a:ext cx="566928" cy="566928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706624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487168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symptoms bypass the AI entirely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pain, breathlessness, a fall: a deterministic layer scripts "call 108", alerts your duty desk — no model in that path.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694176"/>
            <a:ext cx="566928" cy="566928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822192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3602736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DPDP-clean by architecture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never stored; transcripts auto-delete in 30 days; spoken AI disclosure and recording notice on every call (IT Rules 2026).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4809744"/>
            <a:ext cx="566928" cy="566928"/>
          </a:xfrm>
          <a:prstGeom prst="ellipse">
            <a:avLst/>
          </a:prstGeom>
          <a:solidFill>
            <a:srgbClr val="EAF4F4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937760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4718304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6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auditable
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escalation carries its reasons and timestamps; your quality team can replay any decision.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949440" y="1051560"/>
            <a:ext cx="4709160" cy="4663440"/>
          </a:xfrm>
          <a:prstGeom prst="roundRect">
            <a:avLst>
              <a:gd name="adj" fmla="val 2353"/>
            </a:avLst>
          </a:prstGeom>
          <a:solidFill>
            <a:srgbClr val="0B3C49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73152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PILOT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792224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818120" y="1700784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discharged patients, 2 languages, one department (cardiac or ortho post-op work best)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596896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818120" y="2505456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integration to start — a daily CSV of discharges is enough; EMR hook later</a:t>
            </a:r>
            <a:endParaRPr lang="en-US" sz="12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3401568"/>
            <a:ext cx="365760" cy="36576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818120" y="331012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duty desk gets the escalations; families get the daily WhatsApp</a:t>
            </a:r>
            <a:endParaRPr lang="en-US" sz="12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0" y="4206240"/>
            <a:ext cx="365760" cy="36576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818120" y="411480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D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gates we sign up to: &gt;70% contact rate · ≥1 verified catch · nurse-hours measured</a:t>
            </a:r>
            <a:endParaRPr lang="en-US" sz="1250" dirty="0"/>
          </a:p>
        </p:txBody>
      </p:sp>
      <p:sp>
        <p:nvSpPr>
          <p:cNvPr id="26" name="Shape 16"/>
          <p:cNvSpPr/>
          <p:nvPr/>
        </p:nvSpPr>
        <p:spPr>
          <a:xfrm>
            <a:off x="7315200" y="5074920"/>
            <a:ext cx="397764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27" name="Text 17"/>
          <p:cNvSpPr txBox="1"/>
          <p:nvPr/>
        </p:nvSpPr>
        <p:spPr>
          <a:xfrm>
            <a:off x="7315200" y="50749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 it yourself:  sahara-demo.fly.dev/try</a:t>
            </a:r>
            <a:endParaRPr lang="en-US" sz="1400" dirty="0"/>
          </a:p>
        </p:txBody>
      </p:sp>
      <p:sp>
        <p:nvSpPr>
          <p:cNvPr id="28" name="Text 18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9AA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structured post-discharge call programmes cut 30-day readmissions from 11.9% to 8.3% (StatPearls, NBK606114); early follow-up contact lowers readmission risk across cardiac cohorts (PMC5271349).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Sahara</dc:creator>
  <cp:lastModifiedBy>Sahara</cp:lastModifiedBy>
  <cp:revision>1</cp:revision>
  <dcterms:created xsi:type="dcterms:W3CDTF">2026-09-11T05:54:41Z</dcterms:created>
  <dcterms:modified xsi:type="dcterms:W3CDTF">2026-09-11T05:54:41Z</dcterms:modified>
</cp:coreProperties>
</file>